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7.svg" ContentType="image/svg+xml"/>
  <Override PartName="/ppt/media/image21.svg" ContentType="image/svg+xml"/>
  <Override PartName="/ppt/media/image23.svg" ContentType="image/svg+xml"/>
  <Override PartName="/ppt/media/image26.svg" ContentType="image/svg+xml"/>
  <Override PartName="/ppt/media/image3.svg" ContentType="image/svg+xml"/>
  <Override PartName="/ppt/media/image32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3"/>
    <p:sldId id="273" r:id="rId4"/>
    <p:sldId id="257" r:id="rId5"/>
    <p:sldId id="258" r:id="rId6"/>
    <p:sldId id="277" r:id="rId7"/>
    <p:sldId id="276" r:id="rId8"/>
    <p:sldId id="259" r:id="rId9"/>
    <p:sldId id="272" r:id="rId10"/>
    <p:sldId id="268" r:id="rId11"/>
    <p:sldId id="271" r:id="rId13"/>
    <p:sldId id="260" r:id="rId14"/>
    <p:sldId id="263" r:id="rId15"/>
  </p:sldIdLst>
  <p:sldSz cx="18288000" cy="10287000"/>
  <p:notesSz cx="6858000" cy="9144000"/>
  <p:embeddedFontLst>
    <p:embeddedFont>
      <p:font typeface="Source Sans 3 Bold" panose="020B0303030403020204"/>
      <p:bold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7" autoAdjust="0"/>
    <p:restoredTop sz="94589" autoAdjust="0"/>
  </p:normalViewPr>
  <p:slideViewPr>
    <p:cSldViewPr showGuides="1">
      <p:cViewPr varScale="1">
        <p:scale>
          <a:sx n="52" d="100"/>
          <a:sy n="52" d="100"/>
        </p:scale>
        <p:origin x="8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video" Target="../media/media1.mp4"/><Relationship Id="rId8" Type="http://schemas.openxmlformats.org/officeDocument/2006/relationships/image" Target="../media/image8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5.png"/><Relationship Id="rId10" Type="http://schemas.microsoft.com/office/2007/relationships/media" Target="../media/media1.mp4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1.xml"/><Relationship Id="rId4" Type="http://schemas.openxmlformats.org/officeDocument/2006/relationships/image" Target="../media/image8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8.png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9.jpeg"/><Relationship Id="rId6" Type="http://schemas.openxmlformats.org/officeDocument/2006/relationships/image" Target="../media/image8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2.xml"/><Relationship Id="rId6" Type="http://schemas.openxmlformats.org/officeDocument/2006/relationships/image" Target="../media/image8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8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3.xml"/><Relationship Id="rId5" Type="http://schemas.openxmlformats.org/officeDocument/2006/relationships/image" Target="../media/image27.png"/><Relationship Id="rId4" Type="http://schemas.openxmlformats.org/officeDocument/2006/relationships/image" Target="../media/image8.png"/><Relationship Id="rId3" Type="http://schemas.openxmlformats.org/officeDocument/2006/relationships/image" Target="../media/image26.svg"/><Relationship Id="rId2" Type="http://schemas.openxmlformats.org/officeDocument/2006/relationships/image" Target="../media/image16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1.png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8.png"/><Relationship Id="rId3" Type="http://schemas.openxmlformats.org/officeDocument/2006/relationships/image" Target="../media/image26.svg"/><Relationship Id="rId2" Type="http://schemas.openxmlformats.org/officeDocument/2006/relationships/image" Target="../media/image16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tags" Target="../tags/tag4.xml"/><Relationship Id="rId6" Type="http://schemas.microsoft.com/office/2007/relationships/media" Target="../media/media2.mp4"/><Relationship Id="rId5" Type="http://schemas.openxmlformats.org/officeDocument/2006/relationships/video" Target="../media/media2.mp4"/><Relationship Id="rId4" Type="http://schemas.openxmlformats.org/officeDocument/2006/relationships/image" Target="../media/image8.png"/><Relationship Id="rId3" Type="http://schemas.openxmlformats.org/officeDocument/2006/relationships/image" Target="../media/image32.svg"/><Relationship Id="rId2" Type="http://schemas.openxmlformats.org/officeDocument/2006/relationships/image" Target="../media/image16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8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00" y="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4858865" y="6857865"/>
            <a:ext cx="2924955" cy="3933314"/>
          </a:xfrm>
          <a:custGeom>
            <a:avLst/>
            <a:gdLst/>
            <a:ahLst/>
            <a:cxnLst/>
            <a:rect l="l" t="t" r="r" b="b"/>
            <a:pathLst>
              <a:path w="2924955" h="3933314">
                <a:moveTo>
                  <a:pt x="0" y="0"/>
                </a:moveTo>
                <a:lnTo>
                  <a:pt x="2924956" y="0"/>
                </a:lnTo>
                <a:lnTo>
                  <a:pt x="2924956" y="3933314"/>
                </a:lnTo>
                <a:lnTo>
                  <a:pt x="0" y="393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0" y="0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V="1">
            <a:off x="-194432" y="8824522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16121194" y="-906849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334435" y="182355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33399" y="18435"/>
            <a:ext cx="14945591" cy="1236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E4D8C"/>
                </a:solidFill>
                <a:latin typeface="Source Sans 3 Bold" panose="020B0303030403020204"/>
                <a:ea typeface="Source Sans 3 Bold" panose="020B0303030403020204"/>
                <a:cs typeface="Source Sans 3 Bold" panose="020B0303030403020204"/>
                <a:sym typeface="Source Sans 3 Bold" panose="020B0303030403020204"/>
              </a:rPr>
              <a:t>Problem Statement &amp; Objective</a:t>
            </a:r>
            <a:endParaRPr lang="en-US" sz="7200" b="1" dirty="0">
              <a:solidFill>
                <a:srgbClr val="0E4D8C"/>
              </a:solidFill>
              <a:latin typeface="Source Sans 3 Bold" panose="020B0303030403020204"/>
              <a:ea typeface="Source Sans 3 Bold" panose="020B0303030403020204"/>
              <a:cs typeface="Source Sans 3 Bold" panose="020B0303030403020204"/>
              <a:sym typeface="Source Sans 3 Bold" panose="020B0303030403020204"/>
            </a:endParaRPr>
          </a:p>
        </p:txBody>
      </p:sp>
      <p:pic>
        <p:nvPicPr>
          <p:cNvPr id="11" name="Picture 10" descr="edge"/>
          <p:cNvPicPr>
            <a:picLocks noChangeAspect="1"/>
          </p:cNvPicPr>
          <p:nvPr/>
        </p:nvPicPr>
        <p:blipFill>
          <a:blip r:embed="rId9">
            <a:lum bright="12000" contrast="48000"/>
          </a:blip>
          <a:stretch>
            <a:fillRect/>
          </a:stretch>
        </p:blipFill>
        <p:spPr>
          <a:xfrm>
            <a:off x="1431925" y="1409700"/>
            <a:ext cx="15424150" cy="8666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4858865" y="6857865"/>
            <a:ext cx="2924955" cy="3933314"/>
          </a:xfrm>
          <a:custGeom>
            <a:avLst/>
            <a:gdLst/>
            <a:ahLst/>
            <a:cxnLst/>
            <a:rect l="l" t="t" r="r" b="b"/>
            <a:pathLst>
              <a:path w="2924955" h="3933314">
                <a:moveTo>
                  <a:pt x="0" y="0"/>
                </a:moveTo>
                <a:lnTo>
                  <a:pt x="2924956" y="0"/>
                </a:lnTo>
                <a:lnTo>
                  <a:pt x="2924956" y="3933314"/>
                </a:lnTo>
                <a:lnTo>
                  <a:pt x="0" y="393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0" y="0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V="1">
            <a:off x="-194432" y="8824522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16121194" y="-906849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334435" y="182355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33399" y="18435"/>
            <a:ext cx="14945591" cy="1236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E4D8C"/>
                </a:solidFill>
                <a:latin typeface="Source Sans 3 Bold" panose="020B0303030403020204"/>
                <a:ea typeface="Source Sans 3 Bold" panose="020B0303030403020204"/>
                <a:cs typeface="Source Sans 3 Bold" panose="020B0303030403020204"/>
                <a:sym typeface="Source Sans 3 Bold" panose="020B0303030403020204"/>
              </a:rPr>
              <a:t>Problem Statement &amp; Objective</a:t>
            </a:r>
            <a:endParaRPr lang="en-US" sz="7200" b="1" dirty="0">
              <a:solidFill>
                <a:srgbClr val="0E4D8C"/>
              </a:solidFill>
              <a:latin typeface="Source Sans 3 Bold" panose="020B0303030403020204"/>
              <a:ea typeface="Source Sans 3 Bold" panose="020B0303030403020204"/>
              <a:cs typeface="Source Sans 3 Bold" panose="020B0303030403020204"/>
              <a:sym typeface="Source Sans 3 Bold" panose="020B0303030403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000" y="1499386"/>
            <a:ext cx="12956347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Develop an efficient 8×8 convolution block using Vedic multiplication principles. The solution should achieve faster computation with optimized resource utilization while maintaining correct outputs.</a:t>
            </a:r>
            <a:endParaRPr lang="en-IN" sz="3000" b="1" dirty="0"/>
          </a:p>
          <a:p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/>
              <a:t>Hardware Acceleration of 2D Image Convolution using Hierarchical Vedic Multiplication</a:t>
            </a:r>
            <a:endParaRPr lang="en-IN" sz="2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600" dirty="0"/>
              <a:t>Pipelined Low-Latency Edge Processing on Xilinx Artix-7 FPGA</a:t>
            </a:r>
            <a:endParaRPr lang="en-IN" sz="2600" dirty="0"/>
          </a:p>
        </p:txBody>
      </p:sp>
      <p:pic>
        <p:nvPicPr>
          <p:cNvPr id="13" name="WhatsApp Video 2026-09-20 at 17.09.43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1">
            <a:lum bright="40000" contrast="40000"/>
          </a:blip>
          <a:stretch>
            <a:fillRect/>
          </a:stretch>
        </p:blipFill>
        <p:spPr>
          <a:xfrm>
            <a:off x="13227904" y="2397633"/>
            <a:ext cx="4914641" cy="3734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 fov="2700000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2" name="TextBox 11"/>
          <p:cNvSpPr txBox="1"/>
          <p:nvPr/>
        </p:nvSpPr>
        <p:spPr>
          <a:xfrm>
            <a:off x="807738" y="4484781"/>
            <a:ext cx="13639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Problem Statement:</a:t>
            </a:r>
            <a:br>
              <a:rPr lang="en-IN" sz="2400" dirty="0"/>
            </a:br>
            <a:r>
              <a:rPr lang="en-IN" sz="2400" dirty="0"/>
              <a:t>Standard software-based spatial convolution on embedded CPUs introduces significant latency </a:t>
            </a:r>
            <a:endParaRPr lang="en-IN" sz="2400" dirty="0"/>
          </a:p>
          <a:p>
            <a:r>
              <a:rPr lang="en-IN" sz="2400" dirty="0"/>
              <a:t>due to sequential loop execution (\</a:t>
            </a:r>
            <a:r>
              <a:rPr lang="en-IN" sz="2400" dirty="0" err="1"/>
              <a:t>mathcal</a:t>
            </a:r>
            <a:r>
              <a:rPr lang="en-IN" sz="2400" dirty="0"/>
              <a:t>{O}(N^2\</a:t>
            </a:r>
            <a:r>
              <a:rPr lang="en-IN" sz="2400" dirty="0" err="1"/>
              <a:t>cdot</a:t>
            </a:r>
            <a:r>
              <a:rPr lang="en-IN" sz="2400" dirty="0"/>
              <a:t> K^2)) and memory-access overheads,</a:t>
            </a:r>
            <a:endParaRPr lang="en-IN" sz="2400" dirty="0"/>
          </a:p>
          <a:p>
            <a:r>
              <a:rPr lang="en-IN" sz="2400" dirty="0"/>
              <a:t>limiting deterministic high-throughput edge processing.</a:t>
            </a:r>
            <a:endParaRPr lang="en-IN" sz="2400" dirty="0"/>
          </a:p>
          <a:p>
            <a:r>
              <a:rPr lang="en-IN" sz="2400" b="1" dirty="0"/>
              <a:t>Core Bottleneck:</a:t>
            </a:r>
            <a:br>
              <a:rPr lang="en-IN" sz="2400" dirty="0"/>
            </a:br>
            <a:r>
              <a:rPr lang="en-IN" sz="2400" dirty="0"/>
              <a:t>Conventional array/Wallace-tree multiplier structures implemented using FPGA fabric/DSP resources can introduce significant logic and accumulation delay when multiple products must be combined for convolution.</a:t>
            </a:r>
            <a:endParaRPr lang="en-IN" sz="2400" dirty="0"/>
          </a:p>
          <a:p>
            <a:r>
              <a:rPr lang="en-IN" sz="2400" b="1" dirty="0"/>
              <a:t>Objective:</a:t>
            </a:r>
            <a:br>
              <a:rPr lang="en-IN" sz="2400" dirty="0"/>
            </a:br>
            <a:r>
              <a:rPr lang="en-IN" sz="2400" dirty="0"/>
              <a:t>Design a highly parallelized 2D Convolution Core leveraging </a:t>
            </a:r>
            <a:r>
              <a:rPr lang="en-IN" sz="2400" b="1" dirty="0" err="1"/>
              <a:t>Urdhva</a:t>
            </a:r>
            <a:r>
              <a:rPr lang="en-IN" sz="2400" b="1" dirty="0"/>
              <a:t> </a:t>
            </a:r>
            <a:r>
              <a:rPr lang="en-IN" sz="2400" b="1" dirty="0" err="1"/>
              <a:t>Tiryagbhyam</a:t>
            </a:r>
            <a:r>
              <a:rPr lang="en-IN" sz="2400" b="1" dirty="0"/>
              <a:t> (Vedic) multiplication</a:t>
            </a:r>
            <a:r>
              <a:rPr lang="en-IN" sz="2400" dirty="0"/>
              <a:t> to maximize arithmetic throughput, reduce multi-operand accumulation delay, and prove exact bit-level equivalence against a Python Golden Model.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83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>
              <p:cMediaNode vol="80000">
                <p:cTn id="12" fill="remove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443252" y="5142283"/>
            <a:ext cx="445048" cy="57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5"/>
              </a:lnSpc>
              <a:spcBef>
                <a:spcPct val="0"/>
              </a:spcBef>
            </a:pPr>
            <a:r>
              <a:rPr lang="en-US" sz="3315" b="1">
                <a:solidFill>
                  <a:srgbClr val="FFFFFF"/>
                </a:solidFill>
                <a:latin typeface="Source Sans 3 Bold" panose="020B0303030403020204"/>
                <a:ea typeface="Source Sans 3 Bold" panose="020B0303030403020204"/>
                <a:cs typeface="Source Sans 3 Bold" panose="020B0303030403020204"/>
                <a:sym typeface="Source Sans 3 Bold" panose="020B0303030403020204"/>
              </a:rPr>
              <a:t>03</a:t>
            </a:r>
            <a:endParaRPr lang="en-US" sz="3315" b="1">
              <a:solidFill>
                <a:srgbClr val="FFFFFF"/>
              </a:solidFill>
              <a:latin typeface="Source Sans 3 Bold" panose="020B0303030403020204"/>
              <a:ea typeface="Source Sans 3 Bold" panose="020B0303030403020204"/>
              <a:cs typeface="Source Sans 3 Bold" panose="020B0303030403020204"/>
              <a:sym typeface="Source Sans 3 Bold" panose="020B0303030403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099928" y="5142283"/>
            <a:ext cx="445048" cy="57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5"/>
              </a:lnSpc>
              <a:spcBef>
                <a:spcPct val="0"/>
              </a:spcBef>
            </a:pPr>
            <a:r>
              <a:rPr lang="en-US" sz="3315" b="1">
                <a:solidFill>
                  <a:srgbClr val="FFFFFF"/>
                </a:solidFill>
                <a:latin typeface="Source Sans 3 Bold" panose="020B0303030403020204"/>
                <a:ea typeface="Source Sans 3 Bold" panose="020B0303030403020204"/>
                <a:cs typeface="Source Sans 3 Bold" panose="020B0303030403020204"/>
                <a:sym typeface="Source Sans 3 Bold" panose="020B0303030403020204"/>
              </a:rPr>
              <a:t>09</a:t>
            </a:r>
            <a:endParaRPr lang="en-US" sz="3315" b="1">
              <a:solidFill>
                <a:srgbClr val="FFFFFF"/>
              </a:solidFill>
              <a:latin typeface="Source Sans 3 Bold" panose="020B0303030403020204"/>
              <a:ea typeface="Source Sans 3 Bold" panose="020B0303030403020204"/>
              <a:cs typeface="Source Sans 3 Bold" panose="020B0303030403020204"/>
              <a:sym typeface="Source Sans 3 Bold" panose="020B0303030403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2494" y="0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0" y="0"/>
                </a:moveTo>
                <a:lnTo>
                  <a:pt x="2032412" y="0"/>
                </a:lnTo>
                <a:lnTo>
                  <a:pt x="2032412" y="2032411"/>
                </a:lnTo>
                <a:lnTo>
                  <a:pt x="0" y="20324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6243094" y="8242094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2032412" y="2032412"/>
                </a:moveTo>
                <a:lnTo>
                  <a:pt x="0" y="2032412"/>
                </a:lnTo>
                <a:lnTo>
                  <a:pt x="0" y="0"/>
                </a:lnTo>
                <a:lnTo>
                  <a:pt x="2032412" y="0"/>
                </a:lnTo>
                <a:lnTo>
                  <a:pt x="2032412" y="20324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1524000" y="12745"/>
            <a:ext cx="176784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E4D8C"/>
                </a:solidFill>
                <a:latin typeface="Source Sans 3 Bold" panose="020B0303030403020204"/>
                <a:ea typeface="Source Sans 3 Bold" panose="020B0303030403020204"/>
                <a:cs typeface="Source Sans 3 Bold" panose="020B0303030403020204"/>
                <a:sym typeface="Source Sans 3 Bold" panose="020B0303030403020204"/>
              </a:rPr>
              <a:t>Proposed Solution: Pipelined Vedic convolution engine</a:t>
            </a:r>
            <a:endParaRPr lang="en-US" sz="7200" b="1" dirty="0">
              <a:solidFill>
                <a:srgbClr val="0E4D8C"/>
              </a:solidFill>
              <a:latin typeface="Source Sans 3 Bold" panose="020B0303030403020204"/>
              <a:ea typeface="Source Sans 3 Bold" panose="020B0303030403020204"/>
              <a:cs typeface="Source Sans 3 Bold" panose="020B0303030403020204"/>
              <a:sym typeface="Source Sans 3 Bold" panose="020B0303030403020204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4334435" y="182355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aphicFrame>
        <p:nvGraphicFramePr>
          <p:cNvPr id="11" name="Table 10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2209165" y="2552700"/>
          <a:ext cx="12319635" cy="6706235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3076575"/>
                <a:gridCol w="3081020"/>
                <a:gridCol w="3081020"/>
                <a:gridCol w="3081020"/>
              </a:tblGrid>
              <a:tr h="1055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Implementation</a:t>
                      </a:r>
                      <a:endParaRPr lang="en-IN" sz="2800" b="1" dirty="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IN" sz="2800" b="1" dirty="0"/>
                        <a:t>Area (LUT)</a:t>
                      </a:r>
                      <a:endParaRPr lang="en-US" altLang="en-IN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1" dirty="0"/>
                        <a:t>Delay (ns)</a:t>
                      </a:r>
                      <a:endParaRPr lang="en-IN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1" dirty="0"/>
                        <a:t>ADP</a:t>
                      </a:r>
                      <a:endParaRPr lang="en-IN" sz="2800" b="1" dirty="0"/>
                    </a:p>
                  </a:txBody>
                  <a:tcPr anchor="ctr"/>
                </a:tc>
              </a:tr>
              <a:tr h="1053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 dirty="0"/>
                        <a:t>Baseline</a:t>
                      </a:r>
                      <a:r>
                        <a:rPr lang="en-US" altLang="en-IN" sz="2800" b="0" dirty="0"/>
                        <a:t>/DSP</a:t>
                      </a:r>
                      <a:endParaRPr lang="en-US" altLang="en-IN" sz="2800" b="0" dirty="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IN" sz="2800" b="0" dirty="0"/>
                        <a:t>0</a:t>
                      </a:r>
                      <a:endParaRPr lang="en-US" altLang="en-IN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0"/>
                        <a:t>22.756</a:t>
                      </a:r>
                      <a:endParaRPr lang="en-IN" sz="28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0"/>
                        <a:t>—</a:t>
                      </a:r>
                      <a:endParaRPr lang="en-IN" sz="2800" b="0"/>
                    </a:p>
                  </a:txBody>
                  <a:tcPr anchor="ctr"/>
                </a:tc>
              </a:tr>
              <a:tr h="1055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 dirty="0"/>
                        <a:t>Conv-Vedic-KS</a:t>
                      </a:r>
                      <a:endParaRPr lang="en-IN" sz="2800" b="0" dirty="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IN" sz="2800" b="0" dirty="0"/>
                        <a:t>1755</a:t>
                      </a:r>
                      <a:endParaRPr lang="en-US" altLang="en-IN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0" dirty="0"/>
                        <a:t>25.293</a:t>
                      </a:r>
                      <a:endParaRPr lang="en-IN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0" dirty="0"/>
                        <a:t>44,389</a:t>
                      </a:r>
                      <a:endParaRPr lang="en-IN" sz="2800" b="0" dirty="0"/>
                    </a:p>
                  </a:txBody>
                  <a:tcPr anchor="ctr"/>
                </a:tc>
              </a:tr>
              <a:tr h="1403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 dirty="0"/>
                        <a:t>Conv-Vedic-RCA</a:t>
                      </a:r>
                      <a:endParaRPr lang="en-IN" sz="2800" b="0" dirty="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IN" sz="2800" b="0" dirty="0"/>
                        <a:t>1223</a:t>
                      </a:r>
                      <a:endParaRPr lang="en-US" altLang="en-IN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0" dirty="0"/>
                        <a:t>22.682</a:t>
                      </a:r>
                      <a:endParaRPr lang="en-IN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0"/>
                        <a:t>27,740</a:t>
                      </a:r>
                      <a:endParaRPr lang="en-IN" sz="2800" b="0"/>
                    </a:p>
                  </a:txBody>
                  <a:tcPr anchor="ctr"/>
                </a:tc>
              </a:tr>
              <a:tr h="1082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Conv- Vedic-CSA_BK</a:t>
                      </a:r>
                      <a:endParaRPr lang="en-IN" sz="2800" b="1" dirty="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IN" sz="2800" b="1" dirty="0"/>
                        <a:t>1176</a:t>
                      </a:r>
                      <a:endParaRPr lang="en-US" altLang="en-IN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1" dirty="0"/>
                        <a:t>17.002</a:t>
                      </a:r>
                      <a:endParaRPr lang="en-IN" sz="2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1" dirty="0"/>
                        <a:t>19,994</a:t>
                      </a:r>
                      <a:endParaRPr lang="en-IN" sz="2800" b="1" dirty="0"/>
                    </a:p>
                  </a:txBody>
                  <a:tcPr anchor="ctr"/>
                </a:tc>
              </a:tr>
              <a:tr h="1055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0" dirty="0"/>
                        <a:t>VEDIC_CSA-KS</a:t>
                      </a:r>
                      <a:endParaRPr lang="en-IN" sz="2800" b="0" dirty="0"/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IN" sz="2800" b="0" dirty="0"/>
                        <a:t>1214</a:t>
                      </a:r>
                      <a:endParaRPr lang="en-US" altLang="en-IN" sz="2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0"/>
                        <a:t>16.808</a:t>
                      </a:r>
                      <a:endParaRPr lang="en-IN" sz="2800" b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800" b="0" dirty="0"/>
                        <a:t>20,404</a:t>
                      </a:r>
                      <a:endParaRPr lang="en-IN" sz="2800" b="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59" b="-9259"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0" y="0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2400" y="263041"/>
            <a:ext cx="15212206" cy="1236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E4D8C"/>
                </a:solidFill>
                <a:latin typeface="Source Sans 3 Bold" panose="020B0303030403020204"/>
                <a:ea typeface="Source Sans 3 Bold" panose="020B0303030403020204"/>
                <a:cs typeface="Source Sans 3 Bold" panose="020B0303030403020204"/>
                <a:sym typeface="Source Sans 3 Bold" panose="020B0303030403020204"/>
              </a:rPr>
              <a:t> System Architecture &amp; Workflow</a:t>
            </a:r>
            <a:endParaRPr lang="en-US" sz="7200" b="1" dirty="0">
              <a:solidFill>
                <a:srgbClr val="0E4D8C"/>
              </a:solidFill>
              <a:latin typeface="Source Sans 3 Bold" panose="020B0303030403020204"/>
              <a:ea typeface="Source Sans 3 Bold" panose="020B0303030403020204"/>
              <a:cs typeface="Source Sans 3 Bold" panose="020B0303030403020204"/>
              <a:sym typeface="Source Sans 3 Bold" panose="020B0303030403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6672523" y="8255464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0" y="0"/>
                </a:moveTo>
                <a:lnTo>
                  <a:pt x="1615477" y="0"/>
                </a:lnTo>
                <a:lnTo>
                  <a:pt x="1615477" y="2005672"/>
                </a:lnTo>
                <a:lnTo>
                  <a:pt x="0" y="2005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V="1">
            <a:off x="-194432" y="8824522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16121194" y="-906849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334435" y="182355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5477" y="1376100"/>
            <a:ext cx="13551279" cy="90341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59" b="-9259"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0" y="0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2400" y="263041"/>
            <a:ext cx="15212206" cy="1236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E4D8C"/>
                </a:solidFill>
                <a:latin typeface="Source Sans 3 Bold" panose="020B0303030403020204"/>
                <a:ea typeface="Source Sans 3 Bold" panose="020B0303030403020204"/>
                <a:cs typeface="Source Sans 3 Bold" panose="020B0303030403020204"/>
                <a:sym typeface="Source Sans 3 Bold" panose="020B0303030403020204"/>
              </a:rPr>
              <a:t> System Architecture &amp; Workflow</a:t>
            </a:r>
            <a:endParaRPr lang="en-US" sz="7200" b="1" dirty="0">
              <a:solidFill>
                <a:srgbClr val="0E4D8C"/>
              </a:solidFill>
              <a:latin typeface="Source Sans 3 Bold" panose="020B0303030403020204"/>
              <a:ea typeface="Source Sans 3 Bold" panose="020B0303030403020204"/>
              <a:cs typeface="Source Sans 3 Bold" panose="020B0303030403020204"/>
              <a:sym typeface="Source Sans 3 Bold" panose="020B0303030403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6672523" y="8255464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0" y="0"/>
                </a:moveTo>
                <a:lnTo>
                  <a:pt x="1615477" y="0"/>
                </a:lnTo>
                <a:lnTo>
                  <a:pt x="1615477" y="2005672"/>
                </a:lnTo>
                <a:lnTo>
                  <a:pt x="0" y="20056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 flipV="1">
            <a:off x="-194432" y="8824522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16121194" y="-906849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334435" y="182355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pic>
        <p:nvPicPr>
          <p:cNvPr id="9" name="Picture 8" descr="des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1409700"/>
            <a:ext cx="15898495" cy="79495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40531" y="1443680"/>
            <a:ext cx="14806938" cy="1236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b="1">
                <a:solidFill>
                  <a:srgbClr val="0E4D8C"/>
                </a:solidFill>
                <a:latin typeface="Source Sans 3 Bold" panose="020B0303030403020204"/>
                <a:ea typeface="Source Sans 3 Bold" panose="020B0303030403020204"/>
                <a:cs typeface="Source Sans 3 Bold" panose="020B0303030403020204"/>
                <a:sym typeface="Source Sans 3 Bold" panose="020B0303030403020204"/>
              </a:rPr>
              <a:t>Innovation, Novelty &amp; Value Addition</a:t>
            </a:r>
            <a:endParaRPr lang="en-US" sz="7200" b="1">
              <a:solidFill>
                <a:srgbClr val="0E4D8C"/>
              </a:solidFill>
              <a:latin typeface="Source Sans 3 Bold" panose="020B0303030403020204"/>
              <a:ea typeface="Source Sans 3 Bold" panose="020B0303030403020204"/>
              <a:cs typeface="Source Sans 3 Bold" panose="020B0303030403020204"/>
              <a:sym typeface="Source Sans 3 Bold" panose="020B0303030403020204"/>
            </a:endParaRPr>
          </a:p>
        </p:txBody>
      </p:sp>
      <p:sp>
        <p:nvSpPr>
          <p:cNvPr id="4" name="Freeform 4"/>
          <p:cNvSpPr/>
          <p:nvPr/>
        </p:nvSpPr>
        <p:spPr>
          <a:xfrm flipH="1">
            <a:off x="0" y="0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>
                <a:moveTo>
                  <a:pt x="0" y="0"/>
                </a:moveTo>
                <a:lnTo>
                  <a:pt x="2464243" y="0"/>
                </a:lnTo>
                <a:lnTo>
                  <a:pt x="2464243" y="2464243"/>
                </a:lnTo>
                <a:lnTo>
                  <a:pt x="0" y="2464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5823757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>
                <a:moveTo>
                  <a:pt x="2464243" y="0"/>
                </a:moveTo>
                <a:lnTo>
                  <a:pt x="0" y="0"/>
                </a:lnTo>
                <a:lnTo>
                  <a:pt x="0" y="2464243"/>
                </a:lnTo>
                <a:lnTo>
                  <a:pt x="2464243" y="2464243"/>
                </a:lnTo>
                <a:lnTo>
                  <a:pt x="24642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158372" y="0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aphicFrame>
        <p:nvGraphicFramePr>
          <p:cNvPr id="10" name="Table 9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479550" y="4076700"/>
          <a:ext cx="14217015" cy="4105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290"/>
                <a:gridCol w="3378200"/>
                <a:gridCol w="2293620"/>
                <a:gridCol w="5970905"/>
              </a:tblGrid>
              <a:tr h="860425"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Parameter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Reference Paper – Proposed VM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Our Proposed Design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Comparison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  <a:tr h="658495"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LUT Utilization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79 LUTs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50 LUTs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36.7% fewer LUTs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  <a:tr h="608330"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Critical Path Delay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6.56 ns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5.725 ns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12.7% lower delay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  <a:tr h="659765"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Operating Frequency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150 MHz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100 MHz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Paper uses higher clock frequency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  <a:tr h="659130"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Power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224.72 </a:t>
                      </a:r>
                      <a:r>
                        <a:rPr lang="en-US" sz="2400"/>
                        <a:t>m</a:t>
                      </a:r>
                      <a:r>
                        <a:rPr sz="2400"/>
                        <a:t>W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109 mW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/>
                        <a:t>Low power Utilization</a:t>
                      </a:r>
                      <a:endParaRPr lang="en-US" sz="2400"/>
                    </a:p>
                  </a:txBody>
                  <a:tcPr marL="0" marR="0" marT="0" marB="0" anchor="ctr" anchorCtr="0"/>
                </a:tc>
              </a:tr>
              <a:tr h="659765"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FPGA / Technology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Zynq UltraScale XCZU2CG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Artix-7 XC7A100T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sz="2400"/>
                        <a:t>Different FPGA technologies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17" name="Text Box 16"/>
          <p:cNvSpPr txBox="1"/>
          <p:nvPr/>
        </p:nvSpPr>
        <p:spPr>
          <a:xfrm>
            <a:off x="2971800" y="9650730"/>
            <a:ext cx="125799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/>
              <a:t>Research Paper link : https://doi.org/10.1109/COMPSAC61105.2024.00071?.com</a:t>
            </a:r>
            <a:endParaRPr lang="en-US" altLang="en-US" sz="28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0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85796" y="266390"/>
            <a:ext cx="14806938" cy="1292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6000" b="1">
                <a:solidFill>
                  <a:srgbClr val="0E4D8C"/>
                </a:solidFill>
                <a:latin typeface="Source Sans 3 Bold" panose="020B0303030403020204"/>
                <a:ea typeface="Source Sans 3 Bold" panose="020B0303030403020204"/>
                <a:cs typeface="Source Sans 3 Bold" panose="020B0303030403020204"/>
                <a:sym typeface="Source Sans 3 Bold" panose="020B0303030403020204"/>
              </a:rPr>
              <a:t>Innovation, Novelty &amp; Value Addition</a:t>
            </a:r>
            <a:endParaRPr lang="en-US" sz="6000" b="1">
              <a:solidFill>
                <a:srgbClr val="0E4D8C"/>
              </a:solidFill>
              <a:latin typeface="Source Sans 3 Bold" panose="020B0303030403020204"/>
              <a:ea typeface="Source Sans 3 Bold" panose="020B0303030403020204"/>
              <a:cs typeface="Source Sans 3 Bold" panose="020B0303030403020204"/>
              <a:sym typeface="Source Sans 3 Bold" panose="020B0303030403020204"/>
            </a:endParaRPr>
          </a:p>
        </p:txBody>
      </p:sp>
      <p:sp>
        <p:nvSpPr>
          <p:cNvPr id="4" name="Freeform 4"/>
          <p:cNvSpPr/>
          <p:nvPr/>
        </p:nvSpPr>
        <p:spPr>
          <a:xfrm flipH="1">
            <a:off x="0" y="0"/>
            <a:ext cx="1615477" cy="2005671"/>
          </a:xfrm>
          <a:custGeom>
            <a:avLst/>
            <a:gdLst/>
            <a:ahLst/>
            <a:cxnLst/>
            <a:rect l="l" t="t" r="r" b="b"/>
            <a:pathLst>
              <a:path w="1615477" h="2005671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>
                <a:moveTo>
                  <a:pt x="0" y="0"/>
                </a:moveTo>
                <a:lnTo>
                  <a:pt x="2464243" y="0"/>
                </a:lnTo>
                <a:lnTo>
                  <a:pt x="2464243" y="2464243"/>
                </a:lnTo>
                <a:lnTo>
                  <a:pt x="0" y="24642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5823757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>
                <a:moveTo>
                  <a:pt x="2464243" y="0"/>
                </a:moveTo>
                <a:lnTo>
                  <a:pt x="0" y="0"/>
                </a:lnTo>
                <a:lnTo>
                  <a:pt x="0" y="2464243"/>
                </a:lnTo>
                <a:lnTo>
                  <a:pt x="2464243" y="2464243"/>
                </a:lnTo>
                <a:lnTo>
                  <a:pt x="24642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158372" y="0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7"/>
          <p:cNvSpPr txBox="1"/>
          <p:nvPr/>
        </p:nvSpPr>
        <p:spPr>
          <a:xfrm>
            <a:off x="914400" y="1790700"/>
            <a:ext cx="16362045" cy="199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/>
              <a:t>The architecture exposes parallel partial-product generation and is combined with CSA/parallel-prefix reduction to reduce carry-propagation overhead in the overall arithmetic path</a:t>
            </a:r>
            <a:endParaRPr lang="en-IN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/>
              <a:t>Zero-operand isolation suppresses unnecessary internal switching activity, targeting dynamic-power reduction without changing numerical functionality.</a:t>
            </a:r>
            <a:endParaRPr lang="en-IN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rcRect b="5013"/>
          <a:stretch>
            <a:fillRect/>
          </a:stretch>
        </p:blipFill>
        <p:spPr>
          <a:xfrm>
            <a:off x="-76200" y="4541520"/>
            <a:ext cx="9222740" cy="4247515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152400" y="3935730"/>
            <a:ext cx="5661660" cy="1150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/>
              <a:t>Power Report without sparse</a:t>
            </a:r>
            <a:endParaRPr lang="en-US" sz="3200" b="1"/>
          </a:p>
        </p:txBody>
      </p:sp>
      <p:sp>
        <p:nvSpPr>
          <p:cNvPr id="13" name="Text Box 12"/>
          <p:cNvSpPr txBox="1"/>
          <p:nvPr/>
        </p:nvSpPr>
        <p:spPr>
          <a:xfrm>
            <a:off x="9222740" y="3916680"/>
            <a:ext cx="49657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/>
              <a:t>Power Report with sparse</a:t>
            </a:r>
            <a:endParaRPr lang="en-US" sz="3200" b="1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2740" y="4636135"/>
            <a:ext cx="9096375" cy="41027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443252" y="5142283"/>
            <a:ext cx="445048" cy="57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5"/>
              </a:lnSpc>
              <a:spcBef>
                <a:spcPct val="0"/>
              </a:spcBef>
            </a:pPr>
            <a:r>
              <a:rPr lang="en-US" sz="3315" b="1">
                <a:solidFill>
                  <a:srgbClr val="FFFFFF"/>
                </a:solidFill>
                <a:latin typeface="Source Sans 3 Bold" panose="020B0303030403020204"/>
                <a:ea typeface="Source Sans 3 Bold" panose="020B0303030403020204"/>
                <a:cs typeface="Source Sans 3 Bold" panose="020B0303030403020204"/>
                <a:sym typeface="Source Sans 3 Bold" panose="020B0303030403020204"/>
              </a:rPr>
              <a:t>03</a:t>
            </a:r>
            <a:endParaRPr lang="en-US" sz="3315" b="1">
              <a:solidFill>
                <a:srgbClr val="FFFFFF"/>
              </a:solidFill>
              <a:latin typeface="Source Sans 3 Bold" panose="020B0303030403020204"/>
              <a:ea typeface="Source Sans 3 Bold" panose="020B0303030403020204"/>
              <a:cs typeface="Source Sans 3 Bold" panose="020B0303030403020204"/>
              <a:sym typeface="Source Sans 3 Bold" panose="020B030303040302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099928" y="5142283"/>
            <a:ext cx="445048" cy="57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5"/>
              </a:lnSpc>
              <a:spcBef>
                <a:spcPct val="0"/>
              </a:spcBef>
            </a:pPr>
            <a:r>
              <a:rPr lang="en-US" sz="3315" b="1">
                <a:solidFill>
                  <a:srgbClr val="FFFFFF"/>
                </a:solidFill>
                <a:latin typeface="Source Sans 3 Bold" panose="020B0303030403020204"/>
                <a:ea typeface="Source Sans 3 Bold" panose="020B0303030403020204"/>
                <a:cs typeface="Source Sans 3 Bold" panose="020B0303030403020204"/>
                <a:sym typeface="Source Sans 3 Bold" panose="020B0303030403020204"/>
              </a:rPr>
              <a:t>09</a:t>
            </a:r>
            <a:endParaRPr lang="en-US" sz="3315" b="1">
              <a:solidFill>
                <a:srgbClr val="FFFFFF"/>
              </a:solidFill>
              <a:latin typeface="Source Sans 3 Bold" panose="020B0303030403020204"/>
              <a:ea typeface="Source Sans 3 Bold" panose="020B0303030403020204"/>
              <a:cs typeface="Source Sans 3 Bold" panose="020B0303030403020204"/>
              <a:sym typeface="Source Sans 3 Bold" panose="020B0303030403020204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2494" y="0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0" y="0"/>
                </a:moveTo>
                <a:lnTo>
                  <a:pt x="2032412" y="0"/>
                </a:lnTo>
                <a:lnTo>
                  <a:pt x="2032412" y="2032411"/>
                </a:lnTo>
                <a:lnTo>
                  <a:pt x="0" y="20324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6243094" y="8242094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2032412" y="2032412"/>
                </a:moveTo>
                <a:lnTo>
                  <a:pt x="0" y="2032412"/>
                </a:lnTo>
                <a:lnTo>
                  <a:pt x="0" y="0"/>
                </a:lnTo>
                <a:lnTo>
                  <a:pt x="2032412" y="0"/>
                </a:lnTo>
                <a:lnTo>
                  <a:pt x="2032412" y="20324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1524000" y="12745"/>
            <a:ext cx="176784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E4D8C"/>
                </a:solidFill>
                <a:latin typeface="Source Sans 3 Bold" panose="020B0303030403020204"/>
                <a:ea typeface="Source Sans 3 Bold" panose="020B0303030403020204"/>
                <a:cs typeface="Source Sans 3 Bold" panose="020B0303030403020204"/>
                <a:sym typeface="Source Sans 3 Bold" panose="020B0303030403020204"/>
              </a:rPr>
              <a:t>Proposed Solution: Pipelined Vedic convolution engine</a:t>
            </a:r>
            <a:endParaRPr lang="en-US" sz="7200" b="1" dirty="0">
              <a:solidFill>
                <a:srgbClr val="0E4D8C"/>
              </a:solidFill>
              <a:latin typeface="Source Sans 3 Bold" panose="020B0303030403020204"/>
              <a:ea typeface="Source Sans 3 Bold" panose="020B0303030403020204"/>
              <a:cs typeface="Source Sans 3 Bold" panose="020B0303030403020204"/>
              <a:sym typeface="Source Sans 3 Bold" panose="020B0303030403020204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4334435" y="182355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1"/>
          <p:cNvSpPr txBox="1"/>
          <p:nvPr/>
        </p:nvSpPr>
        <p:spPr>
          <a:xfrm>
            <a:off x="990600" y="2165280"/>
            <a:ext cx="1525249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dirty="0"/>
              <a:t>Parallel 3×3 MAC </a:t>
            </a:r>
            <a:r>
              <a:rPr lang="en-IN" sz="2600" dirty="0" err="1"/>
              <a:t>datapath</a:t>
            </a:r>
            <a:r>
              <a:rPr lang="en-IN" sz="2600" dirty="0"/>
              <a:t> with pipelined arithmetic stages for high-throughput convolution.</a:t>
            </a:r>
            <a:endParaRPr lang="en-IN" sz="2600" dirty="0"/>
          </a:p>
        </p:txBody>
      </p:sp>
      <p:pic>
        <p:nvPicPr>
          <p:cNvPr id="13" name="Content Placeholder 12"/>
          <p:cNvPicPr>
            <a:picLocks noChangeAspect="1"/>
          </p:cNvPicPr>
          <p:nvPr/>
        </p:nvPicPr>
        <p:blipFill>
          <a:blip r:embed="rId5"/>
          <a:srcRect b="40048"/>
          <a:stretch>
            <a:fillRect/>
          </a:stretch>
        </p:blipFill>
        <p:spPr>
          <a:xfrm>
            <a:off x="1905000" y="2476500"/>
            <a:ext cx="13519150" cy="456565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9144000" y="6865620"/>
          <a:ext cx="8032750" cy="3122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085"/>
                <a:gridCol w="4558665"/>
              </a:tblGrid>
              <a:tr h="664210">
                <a:tc>
                  <a:txBody>
                    <a:bodyPr/>
                    <a:lstStyle/>
                    <a:p>
                      <a:pPr algn="ctr"/>
                      <a:r>
                        <a:rPr sz="2400"/>
                        <a:t>Resource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/>
                        <a:t>Used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  <a:tr h="508635">
                <a:tc>
                  <a:txBody>
                    <a:bodyPr/>
                    <a:lstStyle/>
                    <a:p>
                      <a:pPr algn="ctr"/>
                      <a:r>
                        <a:rPr sz="2400"/>
                        <a:t>LUTs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/>
                        <a:t>1,275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  <a:tr h="422275">
                <a:tc>
                  <a:txBody>
                    <a:bodyPr/>
                    <a:lstStyle/>
                    <a:p>
                      <a:pPr algn="ctr"/>
                      <a:r>
                        <a:rPr sz="2400"/>
                        <a:t>LUT capacity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/>
                        <a:t>63,400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  <a:tr h="509270">
                <a:tc>
                  <a:txBody>
                    <a:bodyPr/>
                    <a:lstStyle/>
                    <a:p>
                      <a:pPr algn="ctr"/>
                      <a:r>
                        <a:rPr sz="2400"/>
                        <a:t>LUT utilization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/>
                        <a:t>2.01%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  <a:tr h="509270">
                <a:tc>
                  <a:txBody>
                    <a:bodyPr/>
                    <a:lstStyle/>
                    <a:p>
                      <a:pPr algn="ctr"/>
                      <a:r>
                        <a:rPr sz="2400"/>
                        <a:t>LUTRAM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/>
                        <a:t>66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  <a:tr h="509270">
                <a:tc>
                  <a:txBody>
                    <a:bodyPr/>
                    <a:lstStyle/>
                    <a:p>
                      <a:pPr algn="ctr"/>
                      <a:r>
                        <a:rPr sz="2400"/>
                        <a:t>FFs</a:t>
                      </a:r>
                      <a:endParaRPr sz="24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/>
                        <a:t>389</a:t>
                      </a:r>
                      <a:endParaRPr sz="24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700" y="11409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59" b="-925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494" y="0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0" y="0"/>
                </a:moveTo>
                <a:lnTo>
                  <a:pt x="2032412" y="0"/>
                </a:lnTo>
                <a:lnTo>
                  <a:pt x="2032412" y="2032411"/>
                </a:lnTo>
                <a:lnTo>
                  <a:pt x="0" y="20324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243094" y="8242094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2032412" y="2032412"/>
                </a:moveTo>
                <a:lnTo>
                  <a:pt x="0" y="2032412"/>
                </a:lnTo>
                <a:lnTo>
                  <a:pt x="0" y="0"/>
                </a:lnTo>
                <a:lnTo>
                  <a:pt x="2032412" y="0"/>
                </a:lnTo>
                <a:lnTo>
                  <a:pt x="2032412" y="20324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334435" y="182355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3"/>
          <p:cNvSpPr txBox="1"/>
          <p:nvPr/>
        </p:nvSpPr>
        <p:spPr>
          <a:xfrm>
            <a:off x="1493800" y="182355"/>
            <a:ext cx="13347494" cy="124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E4D8C"/>
                </a:solidFill>
                <a:latin typeface="Source Sans 3 Bold" panose="020B0303030403020204"/>
                <a:ea typeface="Source Sans 3 Bold" panose="020B0303030403020204"/>
                <a:cs typeface="Source Sans 3 Bold" panose="020B0303030403020204"/>
                <a:sym typeface="Source Sans 3 Bold" panose="020B0303030403020204"/>
              </a:rPr>
              <a:t>Software &amp; Test case result </a:t>
            </a:r>
            <a:endParaRPr lang="en-US" sz="7200" b="1" dirty="0">
              <a:solidFill>
                <a:srgbClr val="0E4D8C"/>
              </a:solidFill>
              <a:latin typeface="Source Sans 3 Bold" panose="020B0303030403020204"/>
              <a:ea typeface="Source Sans 3 Bold" panose="020B0303030403020204"/>
              <a:cs typeface="Source Sans 3 Bold" panose="020B0303030403020204"/>
              <a:sym typeface="Source Sans 3 Bold" panose="020B030303040302020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" y="1672590"/>
            <a:ext cx="6994525" cy="32797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5408295"/>
            <a:ext cx="7102475" cy="31108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5408295"/>
            <a:ext cx="8352155" cy="288480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1562100"/>
            <a:ext cx="8435975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04800" y="-3830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59" b="-925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494" y="0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0" y="0"/>
                </a:moveTo>
                <a:lnTo>
                  <a:pt x="2032412" y="0"/>
                </a:lnTo>
                <a:lnTo>
                  <a:pt x="2032412" y="2032411"/>
                </a:lnTo>
                <a:lnTo>
                  <a:pt x="0" y="20324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243094" y="8242094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2032412" y="2032412"/>
                </a:moveTo>
                <a:lnTo>
                  <a:pt x="0" y="2032412"/>
                </a:lnTo>
                <a:lnTo>
                  <a:pt x="0" y="0"/>
                </a:lnTo>
                <a:lnTo>
                  <a:pt x="2032412" y="0"/>
                </a:lnTo>
                <a:lnTo>
                  <a:pt x="2032412" y="20324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334435" y="182355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3"/>
          <p:cNvSpPr txBox="1"/>
          <p:nvPr/>
        </p:nvSpPr>
        <p:spPr>
          <a:xfrm>
            <a:off x="1493800" y="182355"/>
            <a:ext cx="13347494" cy="124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E4D8C"/>
                </a:solidFill>
                <a:latin typeface="Source Sans 3 Bold" panose="020B0303030403020204"/>
                <a:ea typeface="Source Sans 3 Bold" panose="020B0303030403020204"/>
                <a:cs typeface="Source Sans 3 Bold" panose="020B0303030403020204"/>
                <a:sym typeface="Source Sans 3 Bold" panose="020B0303030403020204"/>
              </a:rPr>
              <a:t>Software &amp; Test case result </a:t>
            </a:r>
            <a:endParaRPr lang="en-US" sz="7200" b="1" dirty="0">
              <a:solidFill>
                <a:srgbClr val="0E4D8C"/>
              </a:solidFill>
              <a:latin typeface="Source Sans 3 Bold" panose="020B0303030403020204"/>
              <a:ea typeface="Source Sans 3 Bold" panose="020B0303030403020204"/>
              <a:cs typeface="Source Sans 3 Bold" panose="020B0303030403020204"/>
              <a:sym typeface="Source Sans 3 Bold" panose="020B0303030403020204"/>
            </a:endParaRPr>
          </a:p>
        </p:txBody>
      </p:sp>
      <p:pic>
        <p:nvPicPr>
          <p:cNvPr id="6" name="edgeimpliment.11.53">
            <a:hlinkClick r:id="" action="ppaction://media"/>
          </p:cNvPr>
          <p:cNvPicPr/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972800" y="3086100"/>
            <a:ext cx="6789420" cy="38868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" y="3185160"/>
            <a:ext cx="10784840" cy="45288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249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59" b="-925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494" y="0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0" y="0"/>
                </a:moveTo>
                <a:lnTo>
                  <a:pt x="2032412" y="0"/>
                </a:lnTo>
                <a:lnTo>
                  <a:pt x="2032412" y="2032411"/>
                </a:lnTo>
                <a:lnTo>
                  <a:pt x="0" y="20324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243094" y="8242094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2032412" y="2032412"/>
                </a:moveTo>
                <a:lnTo>
                  <a:pt x="0" y="2032412"/>
                </a:lnTo>
                <a:lnTo>
                  <a:pt x="0" y="0"/>
                </a:lnTo>
                <a:lnTo>
                  <a:pt x="2032412" y="0"/>
                </a:lnTo>
                <a:lnTo>
                  <a:pt x="2032412" y="20324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334435" y="182355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3"/>
          <p:cNvSpPr txBox="1"/>
          <p:nvPr/>
        </p:nvSpPr>
        <p:spPr>
          <a:xfrm>
            <a:off x="1493800" y="182355"/>
            <a:ext cx="13347494" cy="1248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E4D8C"/>
                </a:solidFill>
                <a:latin typeface="Source Sans 3 Bold" panose="020B0303030403020204"/>
                <a:ea typeface="Source Sans 3 Bold" panose="020B0303030403020204"/>
                <a:cs typeface="Source Sans 3 Bold" panose="020B0303030403020204"/>
                <a:sym typeface="Source Sans 3 Bold" panose="020B0303030403020204"/>
              </a:rPr>
              <a:t>Software &amp; Test case result </a:t>
            </a:r>
            <a:endParaRPr lang="en-US" sz="7200" b="1" dirty="0">
              <a:solidFill>
                <a:srgbClr val="0E4D8C"/>
              </a:solidFill>
              <a:latin typeface="Source Sans 3 Bold" panose="020B0303030403020204"/>
              <a:ea typeface="Source Sans 3 Bold" panose="020B0303030403020204"/>
              <a:cs typeface="Source Sans 3 Bold" panose="020B0303030403020204"/>
              <a:sym typeface="Source Sans 3 Bold" panose="020B030303040302020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638300"/>
            <a:ext cx="14531340" cy="81743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4300"/>
            <a:ext cx="18288000" cy="1054289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59" b="-925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5181600" y="9026086"/>
            <a:ext cx="6756581" cy="124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E4D8C"/>
                </a:solidFill>
                <a:latin typeface="Source Sans 3 Bold" panose="020B0303030403020204"/>
                <a:ea typeface="Source Sans 3 Bold" panose="020B0303030403020204"/>
                <a:cs typeface="Source Sans 3 Bold" panose="020B0303030403020204"/>
                <a:sym typeface="Source Sans 3 Bold" panose="020B0303030403020204"/>
              </a:rPr>
              <a:t>Thank You</a:t>
            </a:r>
            <a:endParaRPr lang="en-US" sz="7200" b="1" dirty="0">
              <a:solidFill>
                <a:srgbClr val="0E4D8C"/>
              </a:solidFill>
              <a:latin typeface="Source Sans 3 Bold" panose="020B0303030403020204"/>
              <a:ea typeface="Source Sans 3 Bold" panose="020B0303030403020204"/>
              <a:cs typeface="Source Sans 3 Bold" panose="020B0303030403020204"/>
              <a:sym typeface="Source Sans 3 Bold" panose="020B0303030403020204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2494" y="0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0" y="0"/>
                </a:moveTo>
                <a:lnTo>
                  <a:pt x="2032412" y="0"/>
                </a:lnTo>
                <a:lnTo>
                  <a:pt x="2032412" y="2032411"/>
                </a:lnTo>
                <a:lnTo>
                  <a:pt x="0" y="20324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6243094" y="8242094"/>
            <a:ext cx="2032411" cy="2032411"/>
          </a:xfrm>
          <a:custGeom>
            <a:avLst/>
            <a:gdLst/>
            <a:ahLst/>
            <a:cxnLst/>
            <a:rect l="l" t="t" r="r" b="b"/>
            <a:pathLst>
              <a:path w="2032411" h="2032411">
                <a:moveTo>
                  <a:pt x="2032412" y="2032412"/>
                </a:moveTo>
                <a:lnTo>
                  <a:pt x="0" y="2032412"/>
                </a:lnTo>
                <a:lnTo>
                  <a:pt x="0" y="0"/>
                </a:lnTo>
                <a:lnTo>
                  <a:pt x="2032412" y="0"/>
                </a:lnTo>
                <a:lnTo>
                  <a:pt x="2032412" y="20324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334435" y="182355"/>
            <a:ext cx="3953565" cy="1317031"/>
          </a:xfrm>
          <a:custGeom>
            <a:avLst/>
            <a:gdLst/>
            <a:ahLst/>
            <a:cxnLst/>
            <a:rect l="l" t="t" r="r" b="b"/>
            <a:pathLst>
              <a:path w="3953565" h="1317031">
                <a:moveTo>
                  <a:pt x="0" y="0"/>
                </a:moveTo>
                <a:lnTo>
                  <a:pt x="3953565" y="0"/>
                </a:lnTo>
                <a:lnTo>
                  <a:pt x="3953565" y="1317031"/>
                </a:lnTo>
                <a:lnTo>
                  <a:pt x="0" y="1317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854679" y="169860"/>
            <a:ext cx="12669982" cy="1236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E4D8C"/>
                </a:solidFill>
                <a:latin typeface="Source Sans 3 Bold" panose="020B0303030403020204"/>
                <a:ea typeface="Source Sans 3 Bold" panose="020B0303030403020204"/>
                <a:cs typeface="Source Sans 3 Bold" panose="020B0303030403020204"/>
                <a:sym typeface="Source Sans 3 Bold" panose="020B0303030403020204"/>
              </a:rPr>
              <a:t>Team &amp; Track Details </a:t>
            </a:r>
            <a:endParaRPr lang="en-US" sz="7200" b="1" dirty="0">
              <a:solidFill>
                <a:srgbClr val="0E4D8C"/>
              </a:solidFill>
              <a:latin typeface="Source Sans 3 Bold" panose="020B0303030403020204"/>
              <a:ea typeface="Source Sans 3 Bold" panose="020B0303030403020204"/>
              <a:cs typeface="Source Sans 3 Bold" panose="020B0303030403020204"/>
              <a:sym typeface="Source Sans 3 Bold" panose="020B0303030403020204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044905" y="3876638"/>
          <a:ext cx="5117895" cy="2945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17895"/>
              </a:tblGrid>
              <a:tr h="736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 dirty="0"/>
                        <a:t>Team Members :</a:t>
                      </a:r>
                      <a:endParaRPr lang="en-IN" sz="3000" b="1" dirty="0"/>
                    </a:p>
                  </a:txBody>
                  <a:tcPr anchor="ctr"/>
                </a:tc>
              </a:tr>
              <a:tr h="736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/>
                        <a:t>Keerti Kallur</a:t>
                      </a:r>
                      <a:endParaRPr lang="en-IN" sz="3000"/>
                    </a:p>
                  </a:txBody>
                  <a:tcPr anchor="ctr"/>
                </a:tc>
              </a:tr>
              <a:tr h="736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/>
                        <a:t>Manoj H A</a:t>
                      </a:r>
                      <a:endParaRPr lang="en-IN" sz="3000" dirty="0"/>
                    </a:p>
                  </a:txBody>
                  <a:tcPr anchor="ctr"/>
                </a:tc>
              </a:tr>
              <a:tr h="736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dirty="0"/>
                        <a:t>Rutvik Malali</a:t>
                      </a:r>
                      <a:endParaRPr lang="en-IN" sz="30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918429" y="2040093"/>
            <a:ext cx="99109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Track 1 — FPGA</a:t>
            </a:r>
            <a:endParaRPr lang="en-IN" sz="3200" dirty="0"/>
          </a:p>
          <a:p>
            <a:pPr>
              <a:buNone/>
            </a:pPr>
            <a:r>
              <a:rPr lang="en-IN" sz="3200" b="1" dirty="0"/>
              <a:t>Team Sutra-</a:t>
            </a:r>
            <a:r>
              <a:rPr lang="en-IN" sz="3200" b="1" dirty="0" err="1"/>
              <a:t>dhar</a:t>
            </a:r>
            <a:endParaRPr lang="en-IN" sz="3200" b="1" dirty="0"/>
          </a:p>
          <a:p>
            <a:pPr>
              <a:buNone/>
            </a:pPr>
            <a:r>
              <a:rPr lang="en-IN" sz="3200" b="1" dirty="0"/>
              <a:t>KLE Technological University, Hubballi</a:t>
            </a:r>
            <a:endParaRPr lang="en-IN" sz="3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68*528"/>
  <p:tag name="TABLE_ENDDRAG_RECT" val="175*201*968*528"/>
</p:tagLst>
</file>

<file path=ppt/tags/tag2.xml><?xml version="1.0" encoding="utf-8"?>
<p:tagLst xmlns:p="http://schemas.openxmlformats.org/presentationml/2006/main">
  <p:tag name="TABLE_ENDDRAG_ORIGIN_RECT" val="998*248"/>
  <p:tag name="TABLE_ENDDRAG_RECT" val="124*319*998*248"/>
</p:tagLst>
</file>

<file path=ppt/tags/tag3.xml><?xml version="1.0" encoding="utf-8"?>
<p:tagLst xmlns:p="http://schemas.openxmlformats.org/presentationml/2006/main">
  <p:tag name="TABLE_ENDDRAG_ORIGIN_RECT" val="632*245"/>
  <p:tag name="TABLE_ENDDRAG_RECT" val="418*537*632*245"/>
</p:tagLst>
</file>

<file path=ppt/tags/tag4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2767</Words>
  <Application>WPS Presentation</Application>
  <PresentationFormat>Custom</PresentationFormat>
  <Paragraphs>190</Paragraphs>
  <Slides>12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Source Sans 3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EDGE-AI_PPT</dc:title>
  <dc:creator>keerti kallur</dc:creator>
  <cp:lastModifiedBy>OM</cp:lastModifiedBy>
  <cp:revision>8</cp:revision>
  <dcterms:created xsi:type="dcterms:W3CDTF">2006-08-16T00:00:00Z</dcterms:created>
  <dcterms:modified xsi:type="dcterms:W3CDTF">2026-10-06T08:51:50Z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1CC9381D66164720AD1ED755A4C8E1F9_13</vt:lpwstr>
  </property>
</Properties>
</file>